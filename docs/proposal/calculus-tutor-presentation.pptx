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บทพูดสไลด์ 1 (หน้าปก):</a:t>
            </a:r>
          </a:p>
          <a:p>
            <a:r>
              <a:t>กราบเรียนท่านคณะกรรมการผู้ทรงคุณวุฒิทุกท่าน พวกเราตัวแทนนายนิสิตสาขาวิชาคณิตศาสตร์ประยุกต์ ขอเสนอโครงร่างโครงงานในหัวข้อ 'การพัฒนาเว็บแอปพลิเคชันช่วยเรียนคณิตศาสตร์สำหรับแคลคูลัสเบื้องต้น' โดยมีอาจารย์กิตติพงษ์ ทรัพย์วัฒนชัย เป็นอาจารย์ที่ปรึกษาโครงงานค่ะ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LaTeX: \lim_{x \to a^-} f(x) = \lim_{x \to a^+} f(x) = L \iff \lim_{x \to a} f(x) = 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LaTeX: f'(x) = \lim_{h \to 0} \frac{f(x+h) - f(x)}{h}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LaTeX: \int_a^b f(x) \, dx = \lim_{n \to \infty} \sum_{i=1}^n f(x_i^*) \Delta 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LaTeX Area: A = \int_a^b |f(x) - g(x)| \, dx</a:t>
            </a:r>
          </a:p>
          <a:p>
            <a:r>
              <a:t>LaTeX Volume: V = \pi \int_a^b ([R(x)]^2 - [r(x)]^2) \, dx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LaTeX: \int u \, dv = uv - \int v \, 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บทพูดสไลด์ 15 (บทสรุป):</a:t>
            </a:r>
          </a:p>
          <a:p>
            <a:r>
              <a:t>ทั้งหมดนี้คือโครงร่างการพัฒนาเว็บแอปพลิเคชันช่วยเรียนคณิตศาสตร์สำหรับแคลคูลัสเบื้องต้น ที่มุ่งหวังจะแก้ปัญหาการเรียนรู้ของนิสิตอย่างเป็นรูปธรรม พวกเราขอขอบพระคุณท่านคณะกรรมการทุกท่าน และพร้อมรับฟังทุกคำชี้แนะเพื่อนำไปพัฒนาโครงงานให้สมบูรณ์ยิ่งขึ้นค่ะ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6644"/>
                </a:solidFill>
              </a:defRPr>
            </a:pPr>
            <a:r>
              <a:t>เอกสารนำเสนอโครงร่างโครงงานคณิตศาสตร์ประยุกต์ ประจำปีการศึกษา 2569</a:t>
            </a:r>
          </a:p>
          <a:p>
            <a:pPr>
              <a:spcAft>
                <a:spcPts val="600"/>
              </a:spcAft>
              <a:defRPr sz="2800" b="1">
                <a:solidFill>
                  <a:srgbClr val="0A2540"/>
                </a:solidFill>
              </a:defRPr>
            </a:pPr>
            <a:r>
              <a:t>การพัฒนาเว็บแอปพลิเคชันช่วยเรียนคณิตศาสตร์</a:t>
            </a:r>
            <a:br/>
            <a:r>
              <a:t>สำหรับแคลคูลัสเบื้องต้น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Development of a Math Tutor Web Application for Introductory Calculus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383280"/>
            <a:ext cx="512064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566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🏛️ สังกัดภาควิชาและสถาบัน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ภาควิชา: วิทยาการคำนวณและเทคโนโลยีดิจิทัล</a:t>
            </a:r>
            <a:br/>
            <a:r>
              <a:t>คณะ: ศิลปศาสตร์และวิทยาศาสตร์</a:t>
            </a:r>
            <a:br/>
            <a:r>
              <a:t>สถาบัน: มหาวิทยาลัยเกษตรศาสตร์ วิทยาเขตกำแพงแสน</a:t>
            </a:r>
            <a:br/>
            <a:br/>
            <a:r>
              <a:t>อาจารย์ที่ปรึกษาโครงงาน:</a:t>
            </a:r>
            <a:br/>
            <a:r>
              <a:t>อาจารย์กิตติพงษ์ ทรัพย์วัฒนชัย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383280"/>
            <a:ext cx="521208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👩‍🎓 คณะผู้จัดทำโครงงาน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9319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1. นางสาวขวัญเรือน สำเนียงดี</a:t>
            </a:r>
            <a:br/>
            <a:r>
              <a:t>    รหัสนิสิต: 6621602928 • สาขาคณิตศาสตร์ประยุกต์</a:t>
            </a:r>
            <a:br/>
            <a:br/>
            <a:r>
              <a:t>2. นางสาวเบญจกัฬยาณี พิทยากูล</a:t>
            </a:r>
            <a:br/>
            <a:r>
              <a:t>    รหัสนิสิต: 6621602979 • สาขาคณิตศาสตร์ประยุกต์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D4ED8"/>
                </a:solidFill>
              </a:defRPr>
            </a:pPr>
            <a:r>
              <a:t>1. ที่มาและความสำคัญ</a:t>
            </a:r>
          </a:p>
          <a:p>
            <a:pPr>
              <a:defRPr sz="2100" b="1">
                <a:solidFill>
                  <a:srgbClr val="0A2540"/>
                </a:solidFill>
              </a:defRPr>
            </a:pPr>
            <a:r>
              <a:t>สภาพปัญหาการเรียนรู้และช่องว่างของสื่อในปัจจุบัน (Research Gap)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02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⚠️ ปัญหาของผู้เรียน (Student Pain Points)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ความเป็นนามธรรมสูง:</a:t>
            </a:r>
            <a:br/>
            <a:r>
              <a:t>  หัวข้อลิมิต อนุพันธ์ และปริพันธ์ ต้องอาศัยการเชื่อมโยงมโนทัศน์เรขาคณิตเข้ากับพีชคณิต</a:t>
            </a:r>
            <a:br/>
            <a:br/>
            <a:r>
              <a:t>• การจำสูตรแต่ขาดความเข้าใจเงื่อนไข:</a:t>
            </a:r>
            <a:br/>
            <a:r>
              <a:t>  ผู้เรียนมักจำสูตรสำเร็จ แต่ไม่เข้าใจที่มาและเงื่อนไขการใช้ (เช่น เงื่อนไขความต่อเนื่อง, การเลือกคู่ By Parts)</a:t>
            </a:r>
            <a:br/>
            <a:br/>
            <a:r>
              <a:t>• สื่อการเรียนรู้ไม่ตรงหลักสูตร:</a:t>
            </a:r>
            <a:br/>
            <a:r>
              <a:t>  ตัวอย่างบนอินเทอร์เน็ตกระจัดกระจาย ขาดระบบฝึกฝนภาษาไทยที่สอดคล้องกับแคลคูลัสมหาวิทยาลัย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🔍 ข้อจำกัดของเครื่องมือเดิม (The Black-Box Problem)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เครื่องคำนวณสำเร็จรูปเป็น Black-Box:</a:t>
            </a:r>
            <a:br/>
            <a:r>
              <a:t>  WolframAlpha, Symbolab แสดงคำตอบสุดท้ายทันที ข้ามกระบวนการให้เหตุผลทางคณิตศาสตร์</a:t>
            </a:r>
            <a:br/>
            <a:br/>
            <a:r>
              <a:t>• AI ทั่วไป (ChatGPT/LLM) มีภาพหลอน:</a:t>
            </a:r>
            <a:br/>
            <a:r>
              <a:t>  มักคิดเลขหรืออ้างทฤษฎีผิดพลาดในขั้นตอนละเอียด ไม่สามารถใช้เป็นแหล่งอ้างอิงเดี่ยวได้</a:t>
            </a:r>
            <a:br/>
            <a:br/>
            <a:r>
              <a:t>• เป้าหมายโครงงานเรา:</a:t>
            </a:r>
            <a:br/>
            <a:r>
              <a:t>  สร้าง Interactive Math Tutor ที่แสดงวิธีทำโปร่งใส ตรวจสอบความถูกต้องด้วย SymPy 100% และจัดกระบวนการคิดแบบ Scaffolding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D4ED8"/>
                </a:solidFill>
              </a:defRPr>
            </a:pPr>
            <a:r>
              <a:t>1. ที่มาและความสำคัญ</a:t>
            </a:r>
          </a:p>
          <a:p>
            <a:pPr>
              <a:defRPr sz="2100" b="1">
                <a:solidFill>
                  <a:srgbClr val="0A2540"/>
                </a:solidFill>
              </a:defRPr>
            </a:pPr>
            <a:r>
              <a:t>ตารางเปรียบเทียบข้อจำกัดของเครื่องมือเดิมกับระบบของเรา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03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📊 ตารางวิเคราะห์เปรียบเทียบ (Feature Matrix)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ourier New"/>
              </a:defRPr>
            </a:pPr>
            <a:r>
              <a:t>มิติการเปรียบเทียบ                   WolframAlpha / Symbolab       ChatGPT / AI แชทบอท           เว็บแอปพลิเคชันของเรา (โครงงานนี้)</a:t>
            </a:r>
            <a:br/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br/>
            <a:r>
              <a:t>1. ภาษาและบริบทเนื้อหา               ภาษาอังกฤษเป็นหลัก             ภาษาไทย (มักแปลทับศัพท์ผิด)   ภาษาไทยตรงตามหลักสูตร มก. 100%</a:t>
            </a:r>
            <a:br/>
            <a:r>
              <a:t>2. ความโปร่งใสของวิธีทำ             ข้ามขั้นตอน / ต้องจ่ายเงินเพิ่ม  มีภาพหลอน (คิดเลขผิดบ่อย)      แสดงขั้นตอนละเอียด โปร่งใสทุกจุด</a:t>
            </a:r>
            <a:br/>
            <a:r>
              <a:t>3. การตรวจสอบความถูกต้อง            Black-Box ตรวจสอบโค้ดไม่ได้     ไม่มีการรับประกันผลลัพธ์        ใช้ SymPy Computer Algebra System</a:t>
            </a:r>
            <a:br/>
            <a:r>
              <a:t>4. กราฟิกจำลองการโต้ตอบ             กราฟนิ่ง ปรับ slider ไม่ได้     ไม่มีกราฟไดนามิก               Reactive Sliders ปรับพารามิเตอร์สด</a:t>
            </a:r>
            <a:br/>
            <a:r>
              <a:t>5. การดักจับจุดผิด (Trap Detection) ไม่มีระบบเตือนการเลือกผิดทาง   เฉลยทันทีโดยไม่เตือนกับดัก     แจ้งเตือนทันทีเมื่อเลือกวิธีที่ทำให้โจทย์ยากขึ้น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D4ED8"/>
                </a:solidFill>
              </a:defRPr>
            </a:pPr>
            <a:r>
              <a:t>2. วัตถุประสงค์ของโครงงาน</a:t>
            </a:r>
          </a:p>
          <a:p>
            <a:pPr>
              <a:defRPr sz="2100" b="1">
                <a:solidFill>
                  <a:srgbClr val="0A2540"/>
                </a:solidFill>
              </a:defRPr>
            </a:pPr>
            <a:r>
              <a:t>วัตถุประสงค์หลักและเป้าหมายการพัฒนา 3 มิติ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04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🎯 วัตถุประสงค์ที่ 1: การพัฒนาระบบ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t>เพื่อออกแบบและพัฒนาเว็บแอปพลิเคชันช่วยเรียนคณิตศาสตร์เรื่องแคลคูลัสเบื้องต้น ด้วยภาษาไพทอนผ่านเฟรมเวิร์ก Streamlit ที่มีความลื่นไหล ตอบสนองไว และใช้งานได้ทั้งบนคอมพิวเตอร์และแท็บเล็ต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44"/>
                </a:solidFill>
              </a:defRPr>
            </a:pPr>
            <a:r>
              <a:t>⚙️ วัตถุประสงค์ที่ 2: กลไกคณิตศาสตร์และกราฟิก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t>เพื่อสร้างระบบคำนวณและแสดงขั้นตอนวิธีทำทางคณิตศาสตร์อย่างเป็นขั้นตอน ด้วย SymPy ควบคู่กับการแสดงภาพจำลองเรขาคณิตเชิงโต้ตอบ (Interactive Visualizations) ใน 4 หัวข้อหลัก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728655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93776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📈 วัตถุประสงค์ที่ 3: การประเมินและทดสอบ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578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t>เพื่อทดสอบความถูกต้องของโมดูลคำนวณ 100% และประเมินประสิทธิผลการเรียนรู้ ตลอดจนความพึงพอใจของนิสิตกลุ่มตัวอย่างที่ใช้งานระบบตามเกณฑ์มาตรฐานทางวิชาการ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D4ED8"/>
                </a:solidFill>
              </a:defRPr>
            </a:pPr>
            <a:r>
              <a:t>3. ขอบเขตของโครงงาน</a:t>
            </a:r>
          </a:p>
          <a:p>
            <a:pPr>
              <a:defRPr sz="2100" b="1">
                <a:solidFill>
                  <a:srgbClr val="0A2540"/>
                </a:solidFill>
              </a:defRPr>
            </a:pPr>
            <a:r>
              <a:t>4 โมดูลการเรียนรู้หลักตามโครงสร้างวิชาแคลคูลัส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05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โมดูล 1: ลิมิตและความต่อเนื่อง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ลิมิตข้างเดียว (ซ้าย-ขวา)</a:t>
            </a:r>
            <a:br/>
            <a:r>
              <a:t>• นิยามความต่อเนื่อง 3 เงื่อนไข</a:t>
            </a:r>
            <a:br/>
            <a:r>
              <a:t>• กราฟไดนามิกจำลอง x วิ่งเข้าใกล้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โมดูล 2: อนุพันธ์และการประยุกต์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นิยามอนุพันธ์จากอัตราการเปลี่ยนแปลง</a:t>
            </a:r>
            <a:br/>
            <a:r>
              <a:t>• ความชันและสมการเส้นสัมผัสโค้ง</a:t>
            </a:r>
            <a:br/>
            <a:r>
              <a:t>• การหาจุดวิกฤตและค่าสุดขีด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โมดูล 3: ผลบวกรีมันน์และปริพันธ์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ผลบวกรีมันน์ (ซ้าย, ขวา, จุดกึ่งกลาง)</a:t>
            </a:r>
            <a:br/>
            <a:r>
              <a:t>• พื้นที่ระหว่างเส้นโค้งสองฟังก์ชัน</a:t>
            </a:r>
            <a:br/>
            <a:r>
              <a:t>• ปริมาตรทรงตันการหมุนแบบจาน/วงแหวน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โมดูล 4: เทคนิคการอินทิเกรต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การแทนค่าด้วยตัวแปร u (u-Substitution)</a:t>
            </a:r>
            <a:br/>
            <a:r>
              <a:t>• การอินทิเกรตทีละส่วน (By Parts)</a:t>
            </a:r>
            <a:br/>
            <a:r>
              <a:t>• กฎ LIATE และระบบเตือนกับดักความซับซ้อน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D4ED8"/>
                </a:solidFill>
              </a:defRPr>
            </a:pPr>
            <a:r>
              <a:t>4. สถาปัตยกรรมระบบ</a:t>
            </a:r>
          </a:p>
          <a:p>
            <a:pPr>
              <a:defRPr sz="2100" b="1">
                <a:solidFill>
                  <a:srgbClr val="0A2540"/>
                </a:solidFill>
              </a:defRPr>
            </a:pPr>
            <a:r>
              <a:t>โครงสร้างเชิงระบบ 3 ชั้น (3-Tier Layered Architecture)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06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1. Presentation Layer (ส่วนปฏิสัมพันธ์ผู้ใช้)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• Streamlit Multipage Framework คอนฟิก Academic Light Theme</a:t>
            </a:r>
            <a:br/>
            <a:r>
              <a:t>• Reactive Sliders และ Formula Inputs ปลอด Emoji ตามมาตรฐานทางการ</a:t>
            </a:r>
            <a:br/>
            <a:r>
              <a:t>• รองรับ Responsive Design ทั้งบน Desktop และ Tablet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1072865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44"/>
                </a:solidFill>
              </a:defRPr>
            </a:pPr>
            <a:r>
              <a:t>2. Symbolic &amp; Verification Layer (เครื่องยนต์คำนวณ)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4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• SymPy Computer Algebra System คำนวณค่าจริงระดับ Analytical 100%</a:t>
            </a:r>
            <a:br/>
            <a:r>
              <a:t>• ตัวแปลงนิพจน์อัจฉริยะ (Smart Parser) จัดการ xor (^) และ implicit multiplication</a:t>
            </a:r>
            <a:br/>
            <a:r>
              <a:t>• Verification Engine หาอนุพันธ์ย้อนกลับเพื่อตรวจทานผลลัพธ์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72865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2920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3. Pedagogical Scaffolding Layer (การจัดนั่งร้านทางปัญญา)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4924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• Conditional Reveal: ซ่อนขั้นตอนวิธีทำจนกว่าผู้เรียนจะตัดสินใจเลือกตัวแปร</a:t>
            </a:r>
            <a:br/>
            <a:r>
              <a:t>• Trap Detection: ตรวจสอบความซับซ้อนของดีกรีสมการและขึ้นกล่องเตือนทันที</a:t>
            </a:r>
            <a:br/>
            <a:r>
              <a:t>• Delayed-Feedback: ฝึกให้นิสิตคิดก่อนเฉลยคำตอบสำเร็จรูป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D4ED8"/>
                </a:solidFill>
              </a:defRPr>
            </a:pPr>
            <a:r>
              <a:t>5. รายละเอียดโมดูลที่ 1</a:t>
            </a:r>
          </a:p>
          <a:p>
            <a:pPr>
              <a:defRPr sz="2100" b="1">
                <a:solidFill>
                  <a:srgbClr val="0A2540"/>
                </a:solidFill>
              </a:defRPr>
            </a:pPr>
            <a:r>
              <a:t>ลิมิตของฟังก์ชันและความต่อเนื่อง (Limits &amp; Continuity)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07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📖 ทฤษฎีและเงื่อนไขหลัก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การมีอยู่ของลิมิต:</a:t>
            </a:r>
            <a:br/>
            <a:r>
              <a:t>  ลิมิตสองด้านจะหาค่าได้ ก็ต่อเมื่อ ลิมิตซ้ายและขวามีค่าเท่ากัน</a:t>
            </a:r>
            <a:br/>
            <a:br/>
            <a:r>
              <a:t>• เงื่อนไขความต่อเนื่อง 3 ประการ:</a:t>
            </a:r>
            <a:br/>
            <a:r>
              <a:t>  1. f(a) หาค่าได้ (มีนิยามในโดเมน)</a:t>
            </a:r>
            <a:br/>
            <a:r>
              <a:t>  2. lim f(x) เมื่อ x เข้าใกล้ a หาค่าได้</a:t>
            </a:r>
            <a:br/>
            <a:r>
              <a:t>  3. ค่าลิมิตเท่ากับค่าของฟังก์ชัน f(a)</a:t>
            </a:r>
          </a:p>
        </p:txBody>
      </p:sp>
      <p:pic>
        <p:nvPicPr>
          <p:cNvPr id="7" name="Picture 6" descr="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480560"/>
            <a:ext cx="4572000" cy="37411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💡 การแสดงผลเชิงโต้ตอบในแอปเรา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สไลเดอร์ปรับค่า x เข้าใกล้จุดวิกฤต:</a:t>
            </a:r>
            <a:br/>
            <a:r>
              <a:t>  ผู้เรียนสามารถเลื่อน slider เพื่อสังเกตค่า f(x) จากด้านซ้ายและขวาได้แบบ Real-time</a:t>
            </a:r>
            <a:br/>
            <a:br/>
            <a:r>
              <a:t>• ตรวจจับจุดไม่ต่อเนื่องอัตโนมัติ:</a:t>
            </a:r>
            <a:br/>
            <a:r>
              <a:t>  ระบบไฮไลต์จุดที่ฟังก์ชันขาดตอน พร้อมระบุประเภทความไม่ต่อเนื่อง (Removable, Jump, Infinite)</a:t>
            </a:r>
            <a:br/>
            <a:br/>
            <a:r>
              <a:t>• กราฟิก Plotly ควบคู่ตารางค่าตัวเลข:</a:t>
            </a:r>
            <a:br/>
            <a:r>
              <a:t>  เชื่อมโยงมโนทัศน์กราฟิกเรขาคณิตเข้ากับตารางตัวเลขเชิงตัวเลข ช่วยให้นิสิตเห็นภาพชัดเจน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D4ED8"/>
                </a:solidFill>
              </a:defRPr>
            </a:pPr>
            <a:r>
              <a:t>5. รายละเอียดโมดูลที่ 2</a:t>
            </a:r>
          </a:p>
          <a:p>
            <a:pPr>
              <a:defRPr sz="2100" b="1">
                <a:solidFill>
                  <a:srgbClr val="0A2540"/>
                </a:solidFill>
              </a:defRPr>
            </a:pPr>
            <a:r>
              <a:t>อนุพันธ์และการประยุกต์ (Derivatives &amp; Applications)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08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📖 ทฤษฎีและสมการหลัก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นิยามอนุพันธ์จากลิมิต:</a:t>
            </a:r>
            <a:br/>
            <a:r>
              <a:t>  อัตราการเปลี่ยนแปลงขณะใดขณะหนึ่ง หรือความชันของเส้นสัมผัสกราฟ ณ จุด x</a:t>
            </a:r>
            <a:br/>
            <a:br/>
            <a:r>
              <a:t>• สมการเส้นสัมผัสโค้ง:</a:t>
            </a:r>
            <a:br/>
            <a:r>
              <a:t>  ความชัน m = f'(x_0) และสมการเส้นสัมผัส y - y_0 = m(x - x_0)</a:t>
            </a:r>
          </a:p>
        </p:txBody>
      </p:sp>
      <p:pic>
        <p:nvPicPr>
          <p:cNvPr id="7" name="Picture 6" descr="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389120"/>
            <a:ext cx="4389120" cy="8207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💡 การแสดงผลเชิงโต้ตอบในแอปเรา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แอนิเมชันเส้นตัดกราฟ (Secant Line) ลู่เข้าสู่เส้นสัมผัส:</a:t>
            </a:r>
            <a:br/>
            <a:r>
              <a:t>  ปรับค่า h ให้เล็กลงเรื่อยๆ นิสิตจะเห็นเส้น secant หมุนเข้าทาบเส้น tangent พอดี</a:t>
            </a:r>
            <a:br/>
            <a:br/>
            <a:r>
              <a:t>• การค้นหาจุดวิกฤตและทดสอบค่าสุดขีด:</a:t>
            </a:r>
            <a:br/>
            <a:r>
              <a:t>  ระบบแก้สมการ f'(x) = 0 ด้วย SymPy แสดงจุดสูงสุด/ต่ำสุดสัมพัทธ์บนกราฟทันที</a:t>
            </a:r>
            <a:br/>
            <a:br/>
            <a:r>
              <a:t>• แดชบอร์ดตรวจสอบกฎการดิฟ:</a:t>
            </a:r>
            <a:br/>
            <a:r>
              <a:t>  รองรับ Product Rule, Quotient Rule และ Chain Rule พร้อมวิธีทำแยกพจน์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D4ED8"/>
                </a:solidFill>
              </a:defRPr>
            </a:pPr>
            <a:r>
              <a:t>5. รายละเอียดโมดูลที่ 3</a:t>
            </a:r>
          </a:p>
          <a:p>
            <a:pPr>
              <a:defRPr sz="2100" b="1">
                <a:solidFill>
                  <a:srgbClr val="0A2540"/>
                </a:solidFill>
              </a:defRPr>
            </a:pPr>
            <a:r>
              <a:t>ผลบวกรีมันน์และปริพันธ์จำกัดเขต (Riemann Sums)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09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📖 ทฤษฎีผลบวกรีมันน์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การแบ่งช่วงย่อยและการประมาณพื้นที่:</a:t>
            </a:r>
            <a:br/>
            <a:r>
              <a:t>  แบ่งช่วง [a, b] ออกเป็น n ส่วนย่อย ความกว้างแต่ละแท่งเท่ากับ Δx = (b-a)/n</a:t>
            </a:r>
            <a:br/>
            <a:br/>
            <a:r>
              <a:t>• ลิมิตของผลบวกรีมันน์สู่ปริพันธ์จำกัดเขต:</a:t>
            </a:r>
            <a:br/>
            <a:r>
              <a:t>  เมื่อ n เข้าสู่อนันต์ ผลรวมของแท่งสี่เหลี่ยมจะเท่ากับพื้นที่ใต้กราฟแท้จริง</a:t>
            </a:r>
          </a:p>
        </p:txBody>
      </p:sp>
      <p:pic>
        <p:nvPicPr>
          <p:cNvPr id="7" name="Picture 6" descr="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97680"/>
            <a:ext cx="4754880" cy="10478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💡 การแสดงผลเชิงโต้ตอบในแอปเรา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Slider ปรับจำนวนช่วง n (1 ถึง 100 ช่วง):</a:t>
            </a:r>
            <a:br/>
            <a:r>
              <a:t>  นิสิตเลื่อนแถบเพื่อดูแท่งสี่เหลี่ยมซอยถี่ขึ้นเรื่อยๆ จนเต็มพื้นที่ใต้เส้นโค้ง</a:t>
            </a:r>
            <a:br/>
            <a:br/>
            <a:r>
              <a:t>• เปรียบเทียบ 3 วิธีคำนวณ:</a:t>
            </a:r>
            <a:br/>
            <a:r>
              <a:t>  1. Left Riemann Sum (จุดปลายซ้าย)</a:t>
            </a:r>
            <a:br/>
            <a:r>
              <a:t>  2. Right Riemann Sum (จุดปลายขวา)</a:t>
            </a:r>
            <a:br/>
            <a:r>
              <a:t>  3. Midpoint Rule (จุดกึ่งกลางช่วง)</a:t>
            </a:r>
            <a:br/>
            <a:br/>
            <a:r>
              <a:t>• แสดงตารางคำนวณค่าคลาดเคลื่อน (Error Analysis):</a:t>
            </a:r>
            <a:br/>
            <a:r>
              <a:t>  เทียบผลบวกกับค่าอินทิเกรตจริง เพื่อให้นิสิตเข้าใจอัตราการลู่เข้าของแต่ละวิธี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D4ED8"/>
                </a:solidFill>
              </a:defRPr>
            </a:pPr>
            <a:r>
              <a:t>5. รายละเอียดโมดูลที่ 3 (ต่อ)</a:t>
            </a:r>
          </a:p>
          <a:p>
            <a:pPr>
              <a:defRPr sz="2100" b="1">
                <a:solidFill>
                  <a:srgbClr val="0A2540"/>
                </a:solidFill>
              </a:defRPr>
            </a:pPr>
            <a:r>
              <a:t>การประยุกต์ปริพันธ์: พื้นที่และปริมาตรทรงตันการหมุน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10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📖 สูตรคำนวณพื้นที่และปริมาตร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พื้นที่ระหว่างเส้นโค้งสองเส้น f(x) และ g(x):</a:t>
            </a:r>
          </a:p>
        </p:txBody>
      </p:sp>
      <p:pic>
        <p:nvPicPr>
          <p:cNvPr id="7" name="Picture 6" descr="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43200"/>
            <a:ext cx="4206240" cy="10565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39319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ปริมาตรทรงตันการหมุนรอบแกน (Washer Method):</a:t>
            </a:r>
          </a:p>
        </p:txBody>
      </p:sp>
      <p:pic>
        <p:nvPicPr>
          <p:cNvPr id="9" name="Picture 8" descr="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4846320" cy="9269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💡 การแสดงผลเชิงโต้ตอบในแอปเรา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ไฮไลต์พื้นที่แรงเงาระหว่างเส้นโค้งอัตโนมัติ:</a:t>
            </a:r>
            <a:br/>
            <a:r>
              <a:t>  ระบบคำนวณจุดตัดของกราฟทั้งสองเส้น และแรเงาพื้นที่ส่วนที่ล้อมรอบให้เห็นชัดเจน</a:t>
            </a:r>
            <a:br/>
            <a:br/>
            <a:r>
              <a:t>• การจำลองการหมุน 3 มิติ (3D Solid of Revolution):</a:t>
            </a:r>
            <a:br/>
            <a:r>
              <a:t>  หมุนเส้นโค้งรอบแกน X หรือแกน Y เพื่อสร้างรูปทรงตัน 3D แบบ Interactive Plotly</a:t>
            </a:r>
            <a:br/>
            <a:br/>
            <a:r>
              <a:t>• รองรับทั้ง Disk Method, Washer Method และ Shell Method:</a:t>
            </a:r>
            <a:br/>
            <a:r>
              <a:t>  แสดงรัศมีภายนอก R(x) และรัศมีภายใน r(x) พร้อมเทียบวิธีตั้งสมการ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D4ED8"/>
                </a:solidFill>
              </a:defRPr>
            </a:pPr>
            <a:r>
              <a:t>5. รายละเอียดโมดูลที่ 4</a:t>
            </a:r>
          </a:p>
          <a:p>
            <a:pPr>
              <a:defRPr sz="2100" b="1">
                <a:solidFill>
                  <a:srgbClr val="0A2540"/>
                </a:solidFill>
              </a:defRPr>
            </a:pPr>
            <a:r>
              <a:t>เทคนิค By Parts และกฎการตัดสินใจ LIATE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11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📖 สูตรหลัก By Parts และกฎ LIATE</a:t>
            </a:r>
          </a:p>
        </p:txBody>
      </p:sp>
      <p:pic>
        <p:nvPicPr>
          <p:cNvPr id="6" name="Picture 5" descr="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3120"/>
            <a:ext cx="4389120" cy="10621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329184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กฎลำดับความสำคัญ LIATE สำหรับเลือกตัวแปร u:</a:t>
            </a:r>
            <a:br/>
            <a:r>
              <a:t>  1. L - Logarithmic (ลอการิทึม เช่น ln x) → เลือกเป็น u เสมอ</a:t>
            </a:r>
            <a:br/>
            <a:r>
              <a:t>  2. I - Inverse Trig (ตรีโกณผกผัน เช่น arctan x) → ควรเป็น u</a:t>
            </a:r>
            <a:br/>
            <a:r>
              <a:t>  3. A - Algebraic (พีชคณิต เช่น x, x²) → ดีกรีจะลดลงเมื่อดิฟ</a:t>
            </a:r>
            <a:br/>
            <a:r>
              <a:t>  4. T - Trigonometric (ตรีโกณ เช่น sin x, cos x) → มักเป็น dv</a:t>
            </a:r>
            <a:br/>
            <a:r>
              <a:t>  5. E - Exponential (เอกซ์โพเนนเชียล เช่น eˣ) → เลือกเป็น dv เสมอ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⚖️ กรณีศึกษา: ทางเลือกถูกต้อง VS กับดัก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โจทย์ตัวอย่าง: ∫ x eˣ dx</a:t>
            </a:r>
            <a:br/>
            <a:r>
              <a:t>───────────────────────────────────────</a:t>
            </a:r>
            <a:br/>
            <a:r>
              <a:t>✅ ทางเลือกที่ถูกต้องตามกฎ LIATE:</a:t>
            </a:r>
            <a:br/>
            <a:r>
              <a:t>  ให้ u = x และ dv = eˣ dx</a:t>
            </a:r>
            <a:br/>
            <a:r>
              <a:t>  จะได้ du = dx และ v = eˣ</a:t>
            </a:r>
            <a:br/>
            <a:r>
              <a:t>  สูตร: ∫ x eˣ dx = x eˣ - ∫ eˣ dx = (x - 1)eˣ + C</a:t>
            </a:r>
            <a:br/>
            <a:r>
              <a:t>  (พจน์ใหม่ ∫ eˣ dx ดีกรีลดลง อินทิเกรตจบได้ทันที)</a:t>
            </a:r>
            <a:br/>
            <a:br/>
            <a:r>
              <a:t>❌ กับดักความซับซ้อน (Trap Detected):</a:t>
            </a:r>
            <a:br/>
            <a:r>
              <a:t>  หากสลับให้ u = eˣ และ dv = x dx</a:t>
            </a:r>
            <a:br/>
            <a:r>
              <a:t>  จะได้ du = eˣ dx และ v = x²/2</a:t>
            </a:r>
            <a:br/>
            <a:r>
              <a:t>  สูตร: ∫ x eˣ dx = (x²/2)eˣ - ∫ (x²/2)eˣ dx</a:t>
            </a:r>
            <a:br/>
            <a:r>
              <a:t>  ⚠️ ดีกรีของ x บวมขึ้นจาก 1 เป็น 2 โจทย์ยากกว่าเดิม!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D4ED8"/>
                </a:solidFill>
              </a:defRPr>
            </a:pPr>
            <a:r>
              <a:t>6. กลไกการเรียนรู้</a:t>
            </a:r>
          </a:p>
          <a:p>
            <a:pPr>
              <a:defRPr sz="2100" b="1">
                <a:solidFill>
                  <a:srgbClr val="0A2540"/>
                </a:solidFill>
              </a:defRPr>
            </a:pPr>
            <a:r>
              <a:t>การจัดนั่งร้านทางปัญญาและดักจับจุดผิด (Pedagogical Scaffolding)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12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1. การเปิดเผยตามเงื่อนไข (Conditional Reveal)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ระบบจะไม่รีบเฉลยวิธีทำทั้งหมดในทันที แต่จะบังคับให้นิสิตตัดสินใจเลือกคู่ตัวแปร (เช่น เลือก u และ dv) ด้วยตนเองก่อน เพื่อสร้างกระบวนการคิดเชิงวิเคราะห์ (Active Engagement)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1072865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2. ระบบตรวจจับกับดักความซับซ้อน (Complexity Trap Detection)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4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หากนิสิตเลือกตัวแปรผิดทาง ระบบจะไม่เพียงแค่บอกว่า 'ผิด' แต่จะแสดงขั้นตอนให้เห็นชัดเจนว่าทำไมพจน์ใหม่ถึงซับซ้อนกว่าโจทย์เดิม และแนะนำกฎ LIATE เพื่อแก้ไขทิศทาง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72865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2920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44"/>
                </a:solidFill>
              </a:defRPr>
            </a:pPr>
            <a:r>
              <a:t>3. การพิสูจน์ย้อนกลับด้วย SymPy (Mathematical Verification)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4924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ทุกคำตอบสุดท้าย ระบบจะหาอนุพันธ์ (d/dx) ย้อนกลับเพื่อพิสูจน์ให้ผู้เรียนเห็นจริงว่าได้ฟังก์ชันโจทย์ตั้งต้น 100% สอดคล้องกับ Fundamental Theorem of Calculus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D4ED8"/>
                </a:solidFill>
              </a:defRPr>
            </a:pPr>
            <a:r>
              <a:t>7. ระเบียบวิธีวิจัยและแผนงาน</a:t>
            </a:r>
          </a:p>
          <a:p>
            <a:pPr>
              <a:defRPr sz="2100" b="1">
                <a:solidFill>
                  <a:srgbClr val="0A2540"/>
                </a:solidFill>
              </a:defRPr>
            </a:pPr>
            <a:r>
              <a:t>แผนการดำเนินงาน 6 ขั้นตอนตามหลักการวิศวกรรมซอฟต์แวร์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13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🗓️ ตารางขั้นตอนการดำเนินงานโครงงาน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ourier New"/>
              </a:defRPr>
            </a:pPr>
            <a:r>
              <a:t>ขั้นตอนการดำเนินงาน                          ระยะเวลาดำเนินการ        ผลผลิตที่ได้ (Deliverables)</a:t>
            </a:r>
            <a:br/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br/>
            <a:r>
              <a:t>1. ทบทวนวรรณกรรมและหลักสูตรแคลคูลัส 1        เดือนที่ 1 - 2           เอกสารข้อกำหนดความต้องการและขอบเขตโจทย์</a:t>
            </a:r>
            <a:br/>
            <a:r>
              <a:t>2. ออกแบบโครงสร้างระบบและ UI Wireframe      เดือนที่ 2 - 3           ผังระบบ 3-Tier และม็อกอัปหน้าจอ Streamlit</a:t>
            </a:r>
            <a:br/>
            <a:r>
              <a:t>3. พัฒนาโมดูลคำนวณ SymPy และ Reactive UI      เดือนที่ 3 - 5           โค้ดโปรแกรม 4 โมดูลหลักพร้อมทำงาน</a:t>
            </a:r>
            <a:br/>
            <a:r>
              <a:t>4. ทดสอบความถูกต้องทางคณิตศาสตร์ (Unit Test)  เดือนที่ 5 - 6           ชุดทดสอบ PyTest ครอบคลุมทุกเงื่อนไขโจทย์ 100%</a:t>
            </a:r>
            <a:br/>
            <a:r>
              <a:t>5. ทดลองใช้กับกลุ่มตัวอย่างนิสิตและเก็บข้อมูล      เดือนที่ 6 - 7           คะแนนแบบทดสอบและผลประเมินความพึงพอใจ</a:t>
            </a:r>
            <a:br/>
            <a:r>
              <a:t>6. วิเคราะห์ผลทางสถิติและจัดทำรายงานฉบับสมบูรณ์   เดือนที่ 7 - 8           เล่มรายงานโครงงานฉบับสมบูรณ์และบทความวิชาการ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D4ED8"/>
                </a:solidFill>
              </a:defRPr>
            </a:pPr>
            <a:r>
              <a:t>8. ประโยชน์ที่คาดว่าจะได้รับ</a:t>
            </a:r>
          </a:p>
          <a:p>
            <a:pPr>
              <a:defRPr sz="2100" b="1">
                <a:solidFill>
                  <a:srgbClr val="0A2540"/>
                </a:solidFill>
              </a:defRPr>
            </a:pPr>
            <a:r>
              <a:t>คุณค่าของผลผลิตโครงงานต่อผู้เรียน อาจารย์ และงานวิจัย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14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44"/>
                </a:solidFill>
              </a:defRPr>
            </a:pPr>
            <a:r>
              <a:t>🌟 ประโยชน์ต่อผู้เรียนและอาจารย์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ประโยชน์ต่อนิสิตผู้เรียน:</a:t>
            </a:r>
            <a:br/>
            <a:r>
              <a:t>  - ลดอัตราความเข้าใจผิด (Misconceptions) ในหัวข้อแคลคูลัสเบื้องต้น</a:t>
            </a:r>
            <a:br/>
            <a:r>
              <a:t>  - ฝึกกระบวนการคิดและแก้ปัญหาเป็นลำดับขั้น ไม่พึ่งพาการลอกคำตอบ</a:t>
            </a:r>
            <a:br/>
            <a:r>
              <a:t>  - เข้าถึงสื่อการสอนคุณภาพสูงภาษาไทยได้ฟรีตลอด 24 ชั่วโมง</a:t>
            </a:r>
            <a:br/>
            <a:br/>
            <a:r>
              <a:t>• ประโยชน์ต่ออาจารย์ผู้สอน:</a:t>
            </a:r>
            <a:br/>
            <a:r>
              <a:t>  - ใช้เป็นสื่อสาธิตมโนทัศน์เรขาคณิตในห้องเรียน Active Learning</a:t>
            </a:r>
            <a:br/>
            <a:r>
              <a:t>  - มีคลังโจทย์และกราฟิกจำลองพร้อมใช้ในการบรรยายและตรวจข้อสอบ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📊 แผนการประเมินผลเชิงประจักษ์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การทดสอบผลสัมฤทธิ์ทางการเรียน (Learning Gains):</a:t>
            </a:r>
            <a:br/>
            <a:r>
              <a:t>  ทดสอบกลุ่มตัวอย่างนิสิตด้วย Pre-test และ Post-test และวิเคราะห์ผลต่างด้วยสถิติ Dependent Samples t-test</a:t>
            </a:r>
            <a:br/>
            <a:br/>
            <a:r>
              <a:t>• การประเมินความพึงพอใจและการใช้งาน (SUS):</a:t>
            </a:r>
            <a:br/>
            <a:r>
              <a:t>  ใช้แบบสอบถาม System Usability Scale (SUS) 10 ข้อ เพื่อวัดระดับความง่ายในการใช้งานและความพึงพอใจของผู้เรียน</a:t>
            </a:r>
            <a:br/>
            <a:br/>
            <a:r>
              <a:t>• การตรวจสอบความถูกต้องของระบบ (Mathematical Rigor):</a:t>
            </a:r>
            <a:br/>
            <a:r>
              <a:t>  รัน Automated Test Suites เทียบผลเฉลยของ SymPy กับเฉลยตำรามาตรฐานมากกว่า 100 ข้อสอบ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1280160"/>
            <a:ext cx="8991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🎓 สรุปภาพรวมและเปิดรับข้อเสนอแนะ (Q&amp;A)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สรุปสาระสำคัญของโครงงาน:</a:t>
            </a:r>
            <a:br/>
            <a:r>
              <a:t>• เปลี่ยนผ่านจากเครื่องมือคำนวณแบบ Black-Box สู่ 'ผู้ช่วยสอนอัจฉริยะที่โปร่งใสและโต้ตอบได้'</a:t>
            </a:r>
            <a:br/>
            <a:r>
              <a:t>• ผสานพลังของ Streamlit (UI ตอบสนองไว) + SymPy (คณิตศาสตร์แม่นยำ 100%)</a:t>
            </a:r>
            <a:br/>
            <a:r>
              <a:t>• จัดกระบวนการเรียนรู้แบบ Scaffolding และดักจับกับดักความซับซ้อนตามหลักการสอนสากล</a:t>
            </a:r>
            <a:br/>
            <a:br/>
            <a:r>
              <a:t>ข้อมูลการพัฒนาและ Source Code:</a:t>
            </a:r>
            <a:br/>
            <a:r>
              <a:t>• GitHub Repository: SubwatG/calculus-integration-app</a:t>
            </a:r>
            <a:br/>
            <a:r>
              <a:t>• สถาบัน: ภาควิชาวิทยาการคำนวณและเทคโนโลยีดิจิทัล คณะศิลปศาสตร์และวิทยาศาสตร์ มหาวิทยาลัยเกษตรศาสตร์</a:t>
            </a:r>
            <a:br/>
            <a:br/>
            <a:r>
              <a:t>ขอขอบพระคุณคณะกรรมการทุกท่านเป็นอย่างสูง</a:t>
            </a:r>
            <a:br/>
            <a:r>
              <a:t>พร้อมรับฟังข้อเสนอแนะและตอบข้อซักถามค่ะ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